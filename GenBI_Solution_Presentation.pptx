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GenBI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AI-Powered Business Intelligence with 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Natural Language Q&amp;A  |  5 Interactive Dashboards  |  End-to-End Pipeline Tracing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Amazon Bedrock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Amazon Redshift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Amazon QuickSight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AWS Glue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Amazon 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4572000"/>
            <a:ext cx="17373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0A5FA"/>
                </a:solidFill>
                <a:latin typeface="Segoe UI"/>
              </a:defRPr>
            </a:pPr>
            <a:r>
              <a:t>AWS Lambda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ABC Restaurant Group  |  200 Stores  |  Hong Kong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Powered by Amazon Web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Segoe UI"/>
              </a:defRPr>
            </a:pPr>
            <a:r>
              <a:t>Too Many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Organizations maintain dozens of dashboards across sales, operations, finance, and customer analytics. Finding the right dashboard for a specific question wastes time and creates frustration.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73152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Segoe UI"/>
              </a:defRPr>
            </a:pPr>
            <a:r>
              <a:t>Numbers Without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 dashboard shows "Total Orders: 7,462,065" but doesn't explain what's included, what's excluded, or how it was calculated. Is it line items or distinct transactions?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73152" cy="1463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Opaque Data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5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When a number looks wrong, tracing it from dashboard to data warehouse to ETL to raw source requires tribal knowledge that lives in people's heads, not in the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Solution — GenBI Analytics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Combines interactive BI dashboards with an AI-powered chatbot that answers</a:t>
            </a:r>
            <a:br/>
            <a:r>
              <a:t>business questions in plain English — with full data lineage for every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651760" cy="29260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900"/>
                </a:solidFill>
                <a:latin typeface="Segoe UI"/>
              </a:defRPr>
            </a:pPr>
            <a:r>
              <a:t>Natural Language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Ask questions like "What is total</a:t>
            </a:r>
            <a:br/>
            <a:r>
              <a:t>revenue by region?" and get</a:t>
            </a:r>
            <a:br/>
            <a:r>
              <a:t>SQL-backed answers instantly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651760" cy="29260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900"/>
                </a:solidFill>
                <a:latin typeface="Segoe UI"/>
              </a:defRPr>
            </a:pPr>
            <a:r>
              <a:t>5 Interactive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Executive, Sales &amp; Menu,</a:t>
            </a:r>
            <a:br/>
            <a:r>
              <a:t>Operations, Customer Intelligence,</a:t>
            </a:r>
            <a:br/>
            <a:r>
              <a:t>Financial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651760" cy="29260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900"/>
                </a:solidFill>
                <a:latin typeface="Segoe UI"/>
              </a:defRPr>
            </a:pPr>
            <a:r>
              <a:t>End-to-End Data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Every answer traces:</a:t>
            </a:r>
            <a:br/>
            <a:r>
              <a:t>Source → S3 → Glue ETL →</a:t>
            </a:r>
            <a:br/>
            <a:r>
              <a:t>Redshift →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651760" cy="29260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900"/>
                </a:solidFill>
                <a:latin typeface="Segoe UI"/>
              </a:defRPr>
            </a:pPr>
            <a:r>
              <a:t>Smart Dashboard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Chatbot recommends the most</a:t>
            </a:r>
            <a:br/>
            <a:r>
              <a:t>relevant dashboard for each</a:t>
            </a:r>
            <a:br/>
            <a:r>
              <a:t>question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Topic Guardrails: Chatbot only responds to restaurant operations questions — off-topic queries are politely redirected.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Data — ABC Restaurant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65176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HK Island, Kowloon,</a:t>
            </a:r>
            <a:br/>
            <a:r>
              <a:t>New Territories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097280"/>
            <a:ext cx="265176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  <a:latin typeface="Segoe UI"/>
              </a:defRPr>
            </a:pPr>
            <a:r>
              <a:t>27M+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Star schema in</a:t>
            </a:r>
            <a:br/>
            <a:r>
              <a:t>Amazon Redshift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265176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  <a:latin typeface="Segoe UI"/>
              </a:defRPr>
            </a:pPr>
            <a:r>
              <a:t>HK$1.09B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Full year 2023</a:t>
            </a:r>
            <a:br/>
            <a:r>
              <a:t>transactions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97280"/>
            <a:ext cx="265176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900"/>
                </a:solidFill>
                <a:latin typeface="Segoe UI"/>
              </a:defRPr>
            </a:pPr>
            <a:r>
              <a:t>7.5M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Across 5 channels</a:t>
            </a:r>
            <a:br/>
            <a:r>
              <a:t>and 7 payment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 Fact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fact_sales — 17.5M rows — transaction line items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fact_inventory — 2.19M rows — daily stock levels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fact_labor — 665K rows — employee shifts &amp; costs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fact_service_performance — 1.75M rows — service times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fact_customer_feedback — 28K rows — CSAT, NPS, sentiment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fact_loyalty — 2.49M rows — loyalty program activity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fact_equipment — 10K rows — maintenance &amp; downtime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fact_financial — 2.4K rows — monthly store P&amp;L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 Dimension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dim_date — 365 days (2023 + HK holidays)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dim_store — 200 stores across 3 HK regions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dim_menu_item — 30 items in 8 categories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dim_channel — 5 order channels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dim_payment_method — 7 payment types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dim_promotion — 12 seasonal promotions</a:t>
            </a:r>
          </a:p>
          <a:p>
            <a:pPr>
              <a:spcBef>
                <a:spcPts val="400"/>
              </a:spcBef>
              <a:defRPr sz="1300" b="0">
                <a:solidFill>
                  <a:srgbClr val="BBBBBB"/>
                </a:solidFill>
                <a:latin typeface="Segoe UI"/>
              </a:defRPr>
            </a:pPr>
            <a:r>
              <a:t>dim_customer — 50,000 loyalty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783080" cy="100584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Source</a:t>
            </a:r>
            <a:br/>
            <a:r>
              <a:t>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POS, HR, CRM,</a:t>
            </a:r>
            <a:br/>
            <a:r>
              <a:t>Inventory,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188720"/>
            <a:ext cx="178308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Amazon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Raw Landing Zone</a:t>
            </a:r>
            <a:br/>
            <a:r>
              <a:t>CSV partitions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1783080" cy="100584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AWS Glue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3 PySpark ETL</a:t>
            </a:r>
            <a:br/>
            <a: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188720"/>
            <a:ext cx="178308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Amazon</a:t>
            </a:r>
            <a:br/>
            <a:r>
              <a:t>Redshift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genbi_mart</a:t>
            </a:r>
            <a:br/>
            <a:r>
              <a:t>Star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188720"/>
            <a:ext cx="1783080" cy="10058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Amazon</a:t>
            </a:r>
            <a:br/>
            <a:r>
              <a:t>Bedrock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KB (RAG) +</a:t>
            </a:r>
            <a:br/>
            <a:r>
              <a:t>LLM (Text-to-SQL)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1188720"/>
            <a:ext cx="1783080" cy="10058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Amazon</a:t>
            </a:r>
            <a:br/>
            <a:r>
              <a:t>QuickSight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5 Embedded</a:t>
            </a:r>
            <a:br/>
            <a:r>
              <a:t>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2148840" cy="73152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Amazon CloudFront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CDN + HTTPS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566160"/>
            <a:ext cx="2148840" cy="73152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Amazon API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REST API routing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566160"/>
            <a:ext cx="2148840" cy="73152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AWS Lambda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Serverless compute</a:t>
            </a:r>
            <a:br/>
            <a:r>
              <a:t>(chat + embed URLs)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3566160"/>
            <a:ext cx="2148840" cy="73152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Amazon 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Static website hosting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3566160"/>
            <a:ext cx="2148840" cy="73152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End User 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3434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Dashboard +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Knowledge Base: 6 indexed documents — schema overview, data lineage, SQL examples, business glossary, dashboard catalog, pipeline lineage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Model-agnostic: Amazon Bedrock supports Claude, Titan, Llama, Mistral, Cohere — swap model with one config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the GenBI Chatbot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457200" cy="457200"/>
          </a:xfrm>
          <a:prstGeom prst="ellipse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3BB"/>
                </a:solidFill>
                <a:latin typeface="Segoe UI"/>
              </a:defRPr>
            </a:pPr>
            <a:r>
              <a:t>User Asks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"What is total revenue by region?"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234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291839" y="11887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Segoe UI"/>
              </a:defRPr>
            </a:pPr>
            <a:r>
              <a:t>RAG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Bedrock KB retrieves schema,</a:t>
            </a:r>
            <a:br/>
            <a:r>
              <a:t>lineage, SQL examples from</a:t>
            </a:r>
            <a:br/>
            <a:r>
              <a:t>OpenSearch Serverless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34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0" y="11887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00"/>
                </a:solidFill>
                <a:latin typeface="Segoe UI"/>
              </a:defRPr>
            </a:pPr>
            <a:r>
              <a:t>SQL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Bedrock LLM generates</a:t>
            </a:r>
            <a:br/>
            <a:r>
              <a:t>Redshift SQL with proper</a:t>
            </a:r>
            <a:br/>
            <a:r>
              <a:t>JOINs and aggregations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234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118872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Segoe UI"/>
              </a:defRPr>
            </a:pPr>
            <a:r>
              <a:t>Query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Redshift Data API executes</a:t>
            </a:r>
            <a:br/>
            <a:r>
              <a:t>SQL and returns results</a:t>
            </a:r>
            <a:br/>
            <a:r>
              <a:t>in ~2-3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234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0" y="118872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0A5FA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Results table + explanation +</a:t>
            </a:r>
            <a:br/>
            <a:r>
              <a:t>data lineage + recommended</a:t>
            </a:r>
            <a:br/>
            <a:r>
              <a:t>dashboard +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 Lineage Example (included in every response):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698480" cy="146304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Source System: POS terminals (store registers)  →  S3 Raw: s3://.../pos/transactions/ + pos/line_items/  →</a:t>
            </a:r>
            <a:br/>
            <a:r>
              <a:t>Glue ETL (load_fact_sales): JOIN transactions + line_items ON transaction_id, calculate gross_profit  →</a:t>
            </a:r>
            <a:br/>
            <a:r>
              <a:t>Redshift genbi_mart.fact_sales: 17.5M rows, grain = one row per line item  →</a:t>
            </a:r>
            <a:br/>
            <a:r>
              <a:t>Dashboard Aggregation: COUNT(DISTINCT transaction_id) to convert line-item grain to order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 Interactive QuickSight Dashboards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194560" cy="6400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Total revenue (HK$1.09B), orders (7.5M),</a:t>
            </a:r>
            <a:br/>
            <a:r>
              <a:t>gross profit, regional comparison,</a:t>
            </a:r>
            <a:br/>
            <a:r>
              <a:t>monthly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fact_sales + dim_date + dim_store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097280"/>
            <a:ext cx="2194560" cy="6400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Sales &amp;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Revenue by category, top menu items,</a:t>
            </a:r>
            <a:br/>
            <a:r>
              <a:t>channel mix, payment methods,</a:t>
            </a:r>
            <a:br/>
            <a:r>
              <a:t>hourly sales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Data Sources: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66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fact_sales + dim_menu_item +</a:t>
            </a:r>
            <a:br/>
            <a:r>
              <a:t>dim_channel + dim_payment_method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2194560" cy="6400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Labor costs, staffing efficiency,</a:t>
            </a:r>
            <a:br/>
            <a:r>
              <a:t>shift productivity, workforce utilization,</a:t>
            </a:r>
            <a:br/>
            <a:r>
              <a:t>hours per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Data Sources: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66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fact_labor + dim_store + dim_date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097280"/>
            <a:ext cx="2194560" cy="6400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Customer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920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CSAT ratings, NPS scores,</a:t>
            </a:r>
            <a:br/>
            <a:r>
              <a:t>sentiment analysis, recommendation rate,</a:t>
            </a:r>
            <a:br/>
            <a:r>
              <a:t>rating by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Data Sources: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566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fact_customer_feedback +</a:t>
            </a:r>
            <a:br/>
            <a:r>
              <a:t>dim_store + dim_date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097280"/>
            <a:ext cx="2194560" cy="6400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Financial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920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EBITDA, net profit margins,</a:t>
            </a:r>
            <a:br/>
            <a:r>
              <a:t>cost structure breakdown,</a:t>
            </a:r>
            <a:br/>
            <a:r>
              <a:t>monthly P&amp;L statements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Data Sources: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566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fact_financial + dim_store +</a:t>
            </a:r>
            <a:br/>
            <a:r>
              <a:t>dim_date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All dashboards are embedded via Amazon QuickSight SDK with a unified chat sidebar.</a:t>
            </a:r>
            <a:br/>
            <a:r>
              <a:t>The chatbot recommends the most relevant dashboard for each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Deployment — Demo vs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54864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Demo Version (Current)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Public access via Amazon CloudFront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Serverless: AWS Lambda + Amazon API Gateway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No authentication (open access)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Public endpoints for all services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Near-zero cost when idle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Ideal for: PoC, stakeholder demos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5486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Enterprise Version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Dual-path access: external (CloudFront + WAF) + internal (DX / VPN)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Amazon Cognito / SAML SSO authentication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VPC private subnets — no public endpoints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VPC Endpoints for Bedrock &amp; Redshift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EC2 / ECS Fargate with Multi-AZ Auto Scaling</a:t>
            </a:r>
          </a:p>
          <a:p>
            <a:pPr>
              <a:spcBef>
                <a:spcPts val="800"/>
              </a:spcBef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AWS WAF, KMS, CloudTrail, X-Ray, QuickSight 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Internal Connectivity Options: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3566160" cy="6400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Segoe UI"/>
              </a:defRPr>
            </a:pPr>
            <a:r>
              <a:t>AWS Direct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HQ / regional offices — dedicated fiber, lowest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212080"/>
            <a:ext cx="3566160" cy="6400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Segoe UI"/>
              </a:defRPr>
            </a:pPr>
            <a:r>
              <a:t>AWS Site-to-Site VPN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Branch offices / DX backup — encrypted IPsec tunnel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212080"/>
            <a:ext cx="3566160" cy="6400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Segoe UI"/>
              </a:defRPr>
            </a:pPr>
            <a:r>
              <a:t>AWS Client VPN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532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Remote workers / WFH — per-user OpenVPN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Tool-Agnostic &amp; Model-Agnostic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The value is in the metadata documentation, not the specific tools.</a:t>
            </a:r>
            <a:br/>
            <a:r>
              <a:t>Any organization can enable the same AI Q&amp;A experience over their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56616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This Demo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103120"/>
            <a:ext cx="356616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Can Be Replaced With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56616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KB Docs Still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AWS Glue (ETL)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69748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Informatica, dbt, Talend,</a:t>
            </a:r>
            <a:br/>
            <a:r>
              <a:t>Azure Data Factory, Airflow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69748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data_lineage.md</a:t>
            </a:r>
            <a:br/>
            <a:r>
              <a:t>pipeline_lineage.md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Amazon Redshift (DW)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65760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Snowflake, BigQuery,</a:t>
            </a:r>
            <a:br/>
            <a:r>
              <a:t>Azure Synapse, Databricks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schema_overview.md</a:t>
            </a:r>
            <a:br/>
            <a:r>
              <a:t>sql_examples.md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Amazon QuickSight (BI)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461772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Power BI, Tableau,</a:t>
            </a:r>
            <a:br/>
            <a:r>
              <a:t>Looker, Apache Superset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617720"/>
            <a:ext cx="3566160" cy="8229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dashboard_catalog.md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Amazon Bedrock (LLM)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557784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Azure OpenAI, Google Vertex AI,</a:t>
            </a:r>
            <a:br/>
            <a:r>
              <a:t>Self-hosted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577840"/>
            <a:ext cx="3566160" cy="82296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Swap API call —</a:t>
            </a:r>
            <a:br/>
            <a:r>
              <a:t>KB + prompt unchanged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End-to-End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SOURCE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03120" cy="6400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</a:t>
            </a:r>
            <a:br/>
            <a:r>
              <a:t>Terminals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Sales txns,</a:t>
            </a:r>
            <a:br/>
            <a:r>
              <a:t>line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371600"/>
            <a:ext cx="2103120" cy="6400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HR /</a:t>
            </a:r>
            <a:br/>
            <a:r>
              <a:t>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Labor shifts,</a:t>
            </a:r>
            <a:br/>
            <a:r>
              <a:t>schedules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371600"/>
            <a:ext cx="2103120" cy="6400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Inventory</a:t>
            </a:r>
            <a:br/>
            <a:r>
              <a:t>Mgmt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Stock levels,</a:t>
            </a:r>
            <a:br/>
            <a:r>
              <a:t>waste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79" y="1371600"/>
            <a:ext cx="2103120" cy="6400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CRM /</a:t>
            </a:r>
            <a:br/>
            <a:r>
              <a:t>Loyalty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Profiles,</a:t>
            </a:r>
            <a:br/>
            <a: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371600"/>
            <a:ext cx="2103120" cy="6400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Finance</a:t>
            </a:r>
            <a:br/>
            <a:r>
              <a:t>/ ERP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  <a:latin typeface="Segoe UI"/>
              </a:defRPr>
            </a:pPr>
            <a:r>
              <a:t>Monthly</a:t>
            </a:r>
            <a:br/>
            <a:r>
              <a:t>P&amp;L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CSV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AMAZON 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880360"/>
            <a:ext cx="2103120" cy="118872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s3://bucket/pos/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pos_transactions_YYYY_MM.csv</a:t>
            </a:r>
            <a:br/>
            <a:r>
              <a:t>pos_line_items_YYYY_MM.csv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39" y="2880360"/>
            <a:ext cx="2103120" cy="118872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s3://bucket/operations/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inventory_daily.csv</a:t>
            </a:r>
            <a:br/>
            <a:r>
              <a:t>labor_shifts.csv</a:t>
            </a:r>
            <a:br/>
            <a:r>
              <a:t>service_times.csv</a:t>
            </a:r>
            <a:br/>
            <a:r>
              <a:t>equipment_maintenance.csv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59" y="2880360"/>
            <a:ext cx="2103120" cy="118872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9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s3://bucket/customer/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customer_profiles.csv</a:t>
            </a:r>
            <a:br/>
            <a:r>
              <a:t>customer_feedback.csv</a:t>
            </a:r>
            <a:br/>
            <a:r>
              <a:t>loyalty_transactions.csv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79" y="2880360"/>
            <a:ext cx="2103120" cy="118872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s3://bucket/financial/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store_pl_monthly.csv</a:t>
            </a:r>
            <a:br/>
            <a:r>
              <a:t>competitor_pricing.csv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880360"/>
            <a:ext cx="2103120" cy="1188720"/>
          </a:xfrm>
          <a:prstGeom prst="round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s3://bucket/reference/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stores.csv, menu_items.csv</a:t>
            </a:r>
            <a:br/>
            <a:r>
              <a:t>channels.csv, payments.csv</a:t>
            </a:r>
            <a:br/>
            <a:r>
              <a:t>promotions.csv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PySpark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AWS GLUE ETL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572000"/>
            <a:ext cx="3657600" cy="11887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45902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  <a:latin typeface="Segoe UI"/>
              </a:defRPr>
            </a:pPr>
            <a:r>
              <a:t>load_dimensions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486460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7 dim tables</a:t>
            </a:r>
            <a:br/>
            <a:r>
              <a:t>Direct S3 → Redshift</a:t>
            </a:r>
            <a:br/>
            <a:r>
              <a:t>Type casting, dedup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~2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4572000"/>
            <a:ext cx="3657600" cy="11887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5902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  <a:latin typeface="Segoe UI"/>
              </a:defRPr>
            </a:pPr>
            <a:r>
              <a:t>load_facts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86460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8 fact tables</a:t>
            </a:r>
            <a:br/>
            <a:r>
              <a:t>JOINs across sources</a:t>
            </a:r>
            <a:br/>
            <a:r>
              <a:t>Calculated fields</a:t>
            </a:r>
            <a:br/>
            <a:r>
              <a:t>(gross_profit, labor_cost)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~15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572000"/>
            <a:ext cx="3657600" cy="11887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5902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  <a:latin typeface="Segoe UI"/>
              </a:defRPr>
            </a:pPr>
            <a:r>
              <a:t>load_metadata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86460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ETL registry</a:t>
            </a:r>
            <a:br/>
            <a:r>
              <a:t>Column-level lineage</a:t>
            </a:r>
            <a:br/>
            <a:r>
              <a:t>Data dictionary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~1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44AD"/>
                </a:solidFill>
                <a:latin typeface="Segoe UI"/>
              </a:defRPr>
            </a:pPr>
            <a:r>
              <a:t>JDBC write  →  Amazon Redshift Serverless: genbi_mart schema  |  7 dimension tables + 8 fact tables  |  27M+ rows  |  Star schema optimized for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Star Schema (genbi_mart)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88920" cy="22860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fact_sales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17.5M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sale_key, date_key, store_id,</a:t>
            </a:r>
            <a:br/>
            <a:r>
              <a:t>item_id, channel_id, transaction_id,</a:t>
            </a:r>
            <a:br/>
            <a:r>
              <a:t>quantity, unit_price, line_total,</a:t>
            </a:r>
            <a:br/>
            <a:r>
              <a:t>cogs_amount, gross_profit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788920" cy="22860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fact_labor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665K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6916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labor_key, date_key, store_id,</a:t>
            </a:r>
            <a:br/>
            <a:r>
              <a:t>employee_id, shift_start, shift_end,</a:t>
            </a:r>
            <a:br/>
            <a:r>
              <a:t>hours_worked, hourly_rate, labor_cost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788920" cy="22860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fact_financial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2.4K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financial_key, month_key, store_id,</a:t>
            </a:r>
            <a:br/>
            <a:r>
              <a:t>revenue, cogs, labor_cost,</a:t>
            </a:r>
            <a:br/>
            <a:r>
              <a:t>rent, utilities, ebitda, net_profit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097280"/>
            <a:ext cx="2788920" cy="22860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fact_customer_feedback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00"/>
                </a:solidFill>
                <a:latin typeface="Segoe UI"/>
              </a:defRPr>
            </a:pPr>
            <a:r>
              <a:t>28K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feedback_key, date_key, store_id,</a:t>
            </a:r>
            <a:br/>
            <a:r>
              <a:t>overall_rating, food_rating,</a:t>
            </a:r>
            <a:br/>
            <a:r>
              <a:t>sentiment, would_recommend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474720"/>
            <a:ext cx="2788920" cy="13716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fact_inventory  (2.19M)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794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date_key, store_id, item_id, opening_stock,</a:t>
            </a:r>
            <a:br/>
            <a:r>
              <a:t>received, sold, closing_stock, waste_qty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474720"/>
            <a:ext cx="2788920" cy="13716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fact_service_performance  (1.75M)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3794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date_key, store_id, channel_id, hour,</a:t>
            </a:r>
            <a:br/>
            <a:r>
              <a:t>avg_service_time, orders_served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74720"/>
            <a:ext cx="2788920" cy="13716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fact_loyalty  (2.49M)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94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date_key, customer_id, store_id,</a:t>
            </a:r>
            <a:br/>
            <a:r>
              <a:t>points_earned, points_redeemed, order_value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474720"/>
            <a:ext cx="2788920" cy="1371600"/>
          </a:xfrm>
          <a:prstGeom prst="roundRect">
            <a:avLst/>
          </a:prstGeom>
          <a:solidFill>
            <a:srgbClr val="2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493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fact_equipment  (10K)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794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store_id, equipment_type, event_date,</a:t>
            </a:r>
            <a:br/>
            <a:r>
              <a:t>event_type, downtime_hours, repair_cost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DIMENSION TABLES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365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date_key, full_date, month_name,</a:t>
            </a:r>
            <a:br/>
            <a:r>
              <a:t>quarter, day_of_week, is_holiday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3911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911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200 rows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3911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store_id, store_name, region,</a:t>
            </a:r>
            <a:br/>
            <a:r>
              <a:t>district, store_type, open_date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3075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dim_menu_item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075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30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item_id, item_name, category,</a:t>
            </a:r>
            <a:br/>
            <a:r>
              <a:t>unit_price, cogs, food_cost_pct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4924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239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dim_channel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239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5 rows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239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channel_id,</a:t>
            </a:r>
            <a:br/>
            <a:r>
              <a:t>channel_name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dim_payment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7 rows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403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payment_method_id,</a:t>
            </a:r>
            <a:br/>
            <a:r>
              <a:t>payment_name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3252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0567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dim_customer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67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50K rows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customer_id, join_date,</a:t>
            </a:r>
            <a:br/>
            <a:r>
              <a:t>tier, lifetime_orders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24160" y="5349240"/>
            <a:ext cx="1554480" cy="11887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97312" y="536752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dim_promotion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97312" y="5577840"/>
            <a:ext cx="1417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900"/>
                </a:solidFill>
                <a:latin typeface="Segoe UI"/>
              </a:defRPr>
            </a:pPr>
            <a:r>
              <a:t>12 rows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97312" y="571500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promo_id, promo_name,</a:t>
            </a:r>
            <a:br/>
            <a:r>
              <a:t>start_date, discount_pct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83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  <a:latin typeface="Segoe UI"/>
              </a:defRPr>
            </a:pPr>
            <a:r>
              <a:t>JOIN Rule: Fact tables use NATURAL keys (store_id, item_id) — Dimension tables use SURROGATE keys (store_key, item_key) — JOIN on natural keys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Knowledge Base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The Knowledge Base is the brain that gives the LLM accurate context for SQL generation.</a:t>
            </a:r>
            <a:br/>
            <a:r>
              <a:t>6 markdown documents are chunked, embedded, and indexed in Amazon OpenSearch Serverless.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" cy="21945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BB"/>
                </a:solidFill>
                <a:latin typeface="Segoe UI"/>
              </a:defRPr>
            </a:pPr>
            <a:r>
              <a:t>01_schema_overview.md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Redshift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Table definitions, column names &amp; types,</a:t>
            </a:r>
            <a:br/>
            <a:r>
              <a:t>primary/foreign keys, row counts,</a:t>
            </a:r>
            <a:br/>
            <a:r>
              <a:t>join rules (natural vs surrogate keys),</a:t>
            </a:r>
            <a:br/>
            <a:r>
              <a:t>grain of each fact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54864" cy="2194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Segoe UI"/>
              </a:defRPr>
            </a:pPr>
            <a:r>
              <a:t>02_data_lineage.md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ETL Lineage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3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How each calculated metric is derived:</a:t>
            </a:r>
            <a:br/>
            <a:r>
              <a:t>gross_profit = line_total - cogs - discount</a:t>
            </a:r>
            <a:br/>
            <a:r>
              <a:t>ETL schedule, data freshness SLAs,</a:t>
            </a:r>
            <a:br/>
            <a:r>
              <a:t>known data characteristics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54864" cy="21945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03_sql_examples.md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SQL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7743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Pre-validated SQL query patterns:</a:t>
            </a:r>
            <a:br/>
            <a:r>
              <a:t>revenue by region, labor cost per order,</a:t>
            </a:r>
            <a:br/>
            <a:r>
              <a:t>waste rate by category, monthly P&amp;L,</a:t>
            </a:r>
            <a:br/>
            <a:r>
              <a:t>top items by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54864" cy="2194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519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Segoe UI"/>
              </a:defRPr>
            </a:pPr>
            <a:r>
              <a:t>04_business_glossary.md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Metric definitions: AOV, CSAT, NPS, EBITDA</a:t>
            </a:r>
            <a:br/>
            <a:r>
              <a:t>HK market context: regions, currencies,</a:t>
            </a:r>
            <a:br/>
            <a:r>
              <a:t>payment methods (Octopus, etc.),</a:t>
            </a:r>
            <a:br/>
            <a:r>
              <a:t>tax rules, minimum wage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20624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206240"/>
            <a:ext cx="54864" cy="2194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519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Segoe UI"/>
              </a:defRPr>
            </a:pPr>
            <a:r>
              <a:t>05_dashboard_catalog.md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5262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Dashboard names, IDs, visual descriptions,</a:t>
            </a:r>
            <a:br/>
            <a:r>
              <a:t>which metrics each dashboard shows,</a:t>
            </a:r>
            <a:br/>
            <a:r>
              <a:t>fact/dim tables per dashboard,</a:t>
            </a:r>
            <a:br/>
            <a:r>
              <a:t>question-to-dashboard routing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206240"/>
            <a:ext cx="3611880" cy="21945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206240"/>
            <a:ext cx="54864" cy="2194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2519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Segoe UI"/>
              </a:defRPr>
            </a:pPr>
            <a:r>
              <a:t>06_pipeline_lineage.md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5262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Pipeline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846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For EACH table: source system →</a:t>
            </a:r>
            <a:br/>
            <a:r>
              <a:t>S3 raw file paths &amp; columns →</a:t>
            </a:r>
            <a:br/>
            <a:r>
              <a:t>Glue job name, JOINs, transforms →</a:t>
            </a:r>
            <a:br/>
            <a:r>
              <a:t>Redshift table &amp; grain →</a:t>
            </a:r>
            <a:br/>
            <a:r>
              <a:t>dashboard aggregation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Indexing: Amazon Titan Embeddings V2  |  Chunking: 300 tokens, 20% overlap  |  Vector Store: Amazon OpenSearch Serverless  |  Top-K retrieval: 5 chunks per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01_schema_overview.md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table structures, column types, join rules, and grain of every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SQL Query generation —</a:t>
            </a:r>
            <a:br/>
            <a:r>
              <a:t>correct table/column names &amp; JOINs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2651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" cy="2651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fact_sales — Transaction-level sales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Columns: sale_key, transaction_id, date_key, store_id,</a:t>
            </a:r>
            <a:br/>
            <a:r>
              <a:t>item_id, customer_id, channel_id, payment_id, promo_id,</a:t>
            </a:r>
            <a:br/>
            <a:r>
              <a:t>order_hour, quantity, unit_price, line_total,</a:t>
            </a:r>
            <a:br/>
            <a:r>
              <a:t>discount_amount, cogs_amount, gross_profit</a:t>
            </a:r>
            <a:br/>
            <a:br/>
            <a:r>
              <a:t>Key formulas:</a:t>
            </a:r>
            <a:br/>
            <a:r>
              <a:t>  line_total = unit_price x quantity</a:t>
            </a:r>
            <a:br/>
            <a:r>
              <a:t>  gross_profit = line_total - cogs_amount - discount_amount</a:t>
            </a:r>
            <a:br/>
            <a:br/>
            <a:r>
              <a:t>Note: customer_id is NULL for ~60% of transactions</a:t>
            </a:r>
            <a:br/>
            <a:r>
              <a:t>(non-loyalty customers)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2651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" cy="2651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dim_date — Date dimension (365 rows)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Columns: date_key, full_date, year, quarter, month,</a:t>
            </a:r>
            <a:br/>
            <a:r>
              <a:t>month_name, week_of_year, day_of_month, day_of_week,</a:t>
            </a:r>
            <a:br/>
            <a:r>
              <a:t>day_name, is_weekend, is_holiday</a:t>
            </a:r>
            <a:br/>
            <a:br/>
            <a:r>
              <a:t>is_holiday flags 17 HK public holidays:</a:t>
            </a:r>
            <a:br/>
            <a:r>
              <a:t>Lunar New Year, Easter, HKSAR Day, National Day, Xmas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dim_menu_item — Menu items (30 rows)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Categories: Burgers, Chicken, Sides, Beverages,</a:t>
            </a:r>
            <a:br/>
            <a:r>
              <a:t>Breakfast, Desserts, Value Meals, Limited Time</a:t>
            </a:r>
            <a:br/>
            <a:r>
              <a:t>food_cost_pct = cogs / unit_price x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54864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CRITICAL: JOIN Key Rules (most common source of SQL errors)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Fact tables use NATURAL keys:</a:t>
            </a:r>
            <a:br/>
            <a:r>
              <a:t>  store_id, item_id, channel_id,</a:t>
            </a:r>
            <a:br/>
            <a:r>
              <a:t>  payment_method_id, customer_id</a:t>
            </a:r>
            <a:br/>
            <a:br/>
            <a:r>
              <a:t>Dimension tables use SURROGATE keys:</a:t>
            </a:r>
            <a:br/>
            <a:r>
              <a:t>  store_key, item_key, channel_key,</a:t>
            </a:r>
            <a:br/>
            <a:r>
              <a:t>  payment_key (internal use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Correct JOINs (always use natural keys):</a:t>
            </a:r>
            <a:br/>
            <a:r>
              <a:t>  fact_sales f JOIN dim_store s ON f.store_id = s.store_id</a:t>
            </a:r>
            <a:br/>
            <a:r>
              <a:t>  fact_sales f JOIN dim_menu_item m ON f.item_id = m.item_id</a:t>
            </a:r>
            <a:br/>
            <a:r>
              <a:t>  fact_sales f JOIN dim_date d ON f.date_key = d.date_key</a:t>
            </a:r>
            <a:br/>
            <a:br/>
            <a:r>
              <a:t>NEVER use: f.store_key, f.item_key (these don't exist on facts)</a:t>
            </a:r>
            <a:br/>
            <a:r>
              <a:t>fix_generated_sql() auto-corrects this if LLM gets it wrong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02_data_lineage.md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how every calculated metric is derived,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Data Lineage — metric</a:t>
            </a:r>
            <a:br/>
            <a:r>
              <a:t>calculation formulas &amp;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25146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" cy="2514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Segoe UI"/>
              </a:defRPr>
            </a:pPr>
            <a:r>
              <a:t>Revenue &amp; Profitability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1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gross_profit = line_total - cogs_amount - discount_amount</a:t>
            </a:r>
            <a:br/>
            <a:r>
              <a:t>    Source: JOIN of pos_transactions + pos_line_items on transaction_id</a:t>
            </a:r>
            <a:br/>
            <a:r>
              <a:t>line_total = unit_price x quantity</a:t>
            </a:r>
            <a:br/>
            <a:r>
              <a:t>    From pos_line_items.line_total</a:t>
            </a:r>
            <a:br/>
            <a:r>
              <a:t>discount_amount = Transaction-level discount evenly split across line items</a:t>
            </a:r>
            <a:br/>
            <a:r>
              <a:t>    COALESCE(discount, 0.0) — null-safe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577840" cy="25146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" cy="2514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Inventory &amp;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1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waste_rate = units_wasted / (units_sold + units_wasted) x 100</a:t>
            </a:r>
            <a:br/>
            <a:r>
              <a:t>    3% means: for every 100 units consumed, 3 wasted. Target: below 3%</a:t>
            </a:r>
            <a:br/>
            <a:r>
              <a:t>closing_stock = opening_stock + received - sold - wasted</a:t>
            </a:r>
            <a:br/>
            <a:r>
              <a:t>    From inventory_daily.csv with item_id prefix "M" stripped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5577840" cy="25146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4864" cy="25146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  <a:latin typeface="Segoe UI"/>
              </a:defRPr>
            </a:pPr>
            <a:r>
              <a:t>Financial P&amp;L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ebitda = gross_profit - labor_cost - rent - utilities - marketing - other_opex</a:t>
            </a:r>
            <a:br/>
            <a:r>
              <a:t>    From store_pl_monthly.csv</a:t>
            </a:r>
            <a:br/>
            <a:r>
              <a:t>net_profit = ebitda - depreciation</a:t>
            </a:r>
            <a:br/>
            <a:r>
              <a:t>    net_margin target: 10-15% for healthy stores</a:t>
            </a:r>
            <a:br/>
            <a:r>
              <a:t>gross_margin_pct = gross_profit / revenue x 100</a:t>
            </a:r>
            <a:br/>
            <a:r>
              <a:t>    Benchmark: 60-70% for QSR industry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023360"/>
            <a:ext cx="5577840" cy="25146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023360"/>
            <a:ext cx="54864" cy="2514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Labor 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labor_cost = hours_worked x hourly_rate</a:t>
            </a:r>
            <a:br/>
            <a:r>
              <a:t>    From labor_shifts.csv — one row per employee per shift</a:t>
            </a:r>
            <a:br/>
            <a:r>
              <a:t>labor_cost_per_order = total_labor / COUNT(DISTINCT txn_id)</a:t>
            </a:r>
            <a:br/>
            <a:r>
              <a:t>    Requires JOIN fact_labor + fact_sales on store_id + date_key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03_sql_examples.md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14 pre-validated SQL patterns — the LLM mimics these proven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SQL Query — correct syntax,</a:t>
            </a:r>
            <a:br/>
            <a:r>
              <a:t>JOIN patterns, aggregations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743200" cy="20116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743200" cy="54864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  <a:latin typeface="Segoe UI"/>
              </a:defRPr>
            </a:pPr>
            <a:r>
              <a:t>Revenue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Total revenue by month</a:t>
            </a:r>
            <a:br/>
            <a:r>
              <a:t>Revenue by region</a:t>
            </a:r>
            <a:br/>
            <a:r>
              <a:t>Top 10 stores by revenue</a:t>
            </a:r>
            <a:br/>
            <a:r>
              <a:t>Revenue by category</a:t>
            </a:r>
            <a:br/>
            <a:r>
              <a:t>Revenue by channel</a:t>
            </a:r>
            <a:br/>
            <a:r>
              <a:t>Revenue by payment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743200" cy="20116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743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Segoe UI"/>
              </a:defRPr>
            </a:pPr>
            <a:r>
              <a:t>Time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Hourly sales pattern</a:t>
            </a:r>
            <a:br/>
            <a:r>
              <a:t>Holiday vs non-holiday</a:t>
            </a:r>
            <a:br/>
            <a:r>
              <a:t>comparison</a:t>
            </a:r>
            <a:br/>
            <a:r>
              <a:t>Weekend vs weekday</a:t>
            </a:r>
            <a:br/>
            <a:r>
              <a:t>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2743200" cy="20116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7432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Segoe UI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Service wait times</a:t>
            </a:r>
            <a:br/>
            <a:r>
              <a:t>by channel</a:t>
            </a:r>
            <a:br/>
            <a:r>
              <a:t>Inventory waste rate</a:t>
            </a:r>
            <a:br/>
            <a:r>
              <a:t>by category</a:t>
            </a:r>
            <a:br/>
            <a:r>
              <a:t>Labor cost per order</a:t>
            </a:r>
            <a:br/>
            <a:r>
              <a:t>by region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280160"/>
            <a:ext cx="2743200" cy="20116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280160"/>
            <a:ext cx="27432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Segoe UI"/>
              </a:defRPr>
            </a:pPr>
            <a:r>
              <a:t>Customer &amp; Financial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737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CSAT satisfaction</a:t>
            </a:r>
            <a:br/>
            <a:r>
              <a:t>by region</a:t>
            </a:r>
            <a:br/>
            <a:r>
              <a:t>Loyalty tier distribution</a:t>
            </a:r>
            <a:br/>
            <a:r>
              <a:t>Monthly P&amp;L summary</a:t>
            </a:r>
            <a:br/>
            <a:r>
              <a:t>Stores with negative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Sample: Top 10 Stores by 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49039"/>
            <a:ext cx="5577840" cy="2743200"/>
          </a:xfrm>
          <a:prstGeom prst="round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DD77"/>
                </a:solidFill>
                <a:latin typeface="Courier New"/>
              </a:defRPr>
            </a:pPr>
            <a:r>
              <a:t>SELECT s.store_id, s.store_name,</a:t>
            </a:r>
            <a:br/>
            <a:r>
              <a:t>       s.district, s.region,</a:t>
            </a:r>
            <a:br/>
            <a:r>
              <a:t>       SUM(f.line_total) AS revenue,</a:t>
            </a:r>
            <a:br/>
            <a:r>
              <a:t>       SUM(f.gross_profit) AS profit,</a:t>
            </a:r>
            <a:br/>
            <a:r>
              <a:t>       COUNT(DISTINCT f.transaction_id)</a:t>
            </a:r>
            <a:br/>
            <a:r>
              <a:t>         AS orders</a:t>
            </a:r>
            <a:br/>
            <a:r>
              <a:t>FROM genbi_mart.fact_sales f</a:t>
            </a:r>
            <a:br/>
            <a:r>
              <a:t>JOIN genbi_mart.dim_store s</a:t>
            </a:r>
            <a:br/>
            <a:r>
              <a:t>  ON f.store_id = s.store_id</a:t>
            </a:r>
            <a:br/>
            <a:r>
              <a:t>GROUP BY s.store_id, s.store_name,</a:t>
            </a:r>
            <a:br/>
            <a:r>
              <a:t>         s.district, s.region</a:t>
            </a:r>
            <a:br/>
            <a:r>
              <a:t>ORDER BY revenue DESC LIMIT 10;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Sample: Inventory Waste Rate by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49039"/>
            <a:ext cx="5486400" cy="2743200"/>
          </a:xfrm>
          <a:prstGeom prst="round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947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DD77"/>
                </a:solidFill>
                <a:latin typeface="Courier New"/>
              </a:defRPr>
            </a:pPr>
            <a:r>
              <a:t>SELECT m.category_name,</a:t>
            </a:r>
            <a:br/>
            <a:r>
              <a:t>  ROUND(AVG(i.waste_rate), 2)</a:t>
            </a:r>
            <a:br/>
            <a:r>
              <a:t>    AS avg_waste_rate,</a:t>
            </a:r>
            <a:br/>
            <a:r>
              <a:t>  SUM(i.units_wasted) AS total_wasted,</a:t>
            </a:r>
            <a:br/>
            <a:r>
              <a:t>  SUM(i.units_sold) AS total_sold</a:t>
            </a:r>
            <a:br/>
            <a:r>
              <a:t>FROM genbi_mart.fact_inventory i</a:t>
            </a:r>
            <a:br/>
            <a:r>
              <a:t>JOIN genbi_mart.dim_menu_item m</a:t>
            </a:r>
            <a:br/>
            <a:r>
              <a:t>  ON i.item_id = m.item_id</a:t>
            </a:r>
            <a:br/>
            <a:r>
              <a:t>GROUP BY m.category_name</a:t>
            </a:r>
            <a:br/>
            <a:r>
              <a:t>ORDER BY avg_waste_rate DESC;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04_business_glossary.md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business metric definitions &amp; Hong Kong market context for accurate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Explanation &amp; Assumptions —</a:t>
            </a:r>
            <a:br/>
            <a:r>
              <a:t>metric meanings &amp;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AOV (Average Order Value)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19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SUM(line_total) / COUNT(DISTINCT transaction_id)</a:t>
            </a:r>
            <a:br/>
            <a:r>
              <a:t>Typical range: HKD 40-80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Food Cost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19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COGS / selling price x 100</a:t>
            </a:r>
            <a:br/>
            <a:r>
              <a:t>Stored in dim_menu_item.food_cost_pct</a:t>
            </a:r>
            <a:br/>
            <a:r>
              <a:t>Industry target: 28-35%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258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CSAT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45919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Customer Satisfaction Score</a:t>
            </a:r>
            <a:br/>
            <a:r>
              <a:t>1-5 scale from fact_customer_feedback</a:t>
            </a:r>
            <a:br/>
            <a:r>
              <a:t>Target: above 4.0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7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NPS (Net Promoter)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46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would_recommend TRUE/FALSE</a:t>
            </a:r>
            <a:br/>
            <a:r>
              <a:t>% promoters - % detractors</a:t>
            </a:r>
            <a:br/>
            <a:r>
              <a:t>Target: above +30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8803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92607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Waste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46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units_wasted / (sold + wasted) x 100</a:t>
            </a:r>
            <a:br/>
            <a:r>
              <a:t>Target: below 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880360"/>
            <a:ext cx="3611880" cy="14173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92607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egoe UI"/>
              </a:defRPr>
            </a:pPr>
            <a: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2461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revenue - cogs - labor - rent -</a:t>
            </a:r>
            <a:br/>
            <a:r>
              <a:t>utilities - marketing - other_opex</a:t>
            </a:r>
            <a:br/>
            <a:r>
              <a:t>Benchmark: 15-20% of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Hong Kong Market Context (embedded in LLM understanding)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361188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4864" cy="16459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  <a:latin typeface="Segoe UI"/>
              </a:defRPr>
            </a:pPr>
            <a:r>
              <a:t>Regions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HK Island: CBD, high-rent, tourist/office</a:t>
            </a:r>
            <a:br/>
            <a:r>
              <a:t>Kowloon: Dense residential, highest density</a:t>
            </a:r>
            <a:br/>
            <a:r>
              <a:t>New Territories: Suburban, growing pop.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846320"/>
            <a:ext cx="361188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846320"/>
            <a:ext cx="54864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Segoe UI"/>
              </a:defRPr>
            </a:pPr>
            <a:r>
              <a:t>Payment 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166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Octopus card: ~35% (dominant)</a:t>
            </a:r>
            <a:br/>
            <a:r>
              <a:t>Cash: ~15% (declining)</a:t>
            </a:r>
            <a:br/>
            <a:r>
              <a:t>Mobile pay: Apple/Alipay/WeChat (growing)</a:t>
            </a:r>
            <a:br/>
            <a:r>
              <a:t>Visa/Mastercard: ~25%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846320"/>
            <a:ext cx="3611880" cy="1645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846320"/>
            <a:ext cx="54864" cy="1645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Segoe UI"/>
              </a:defRPr>
            </a:pPr>
            <a:r>
              <a:t>Order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66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Kiosk: ~35% (highest share)</a:t>
            </a:r>
            <a:br/>
            <a:r>
              <a:t>Counter: ~30% (traditional)</a:t>
            </a:r>
            <a:br/>
            <a:r>
              <a:t>Mobile App: ~15% (order ahead)</a:t>
            </a:r>
            <a:br/>
            <a:r>
              <a:t>Delivery: ~12% | Drive-thru: ~8%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05_dashboard_catalog.md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which dashboards exist, what they show, and when to recommend each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Dashboard Recommendation —</a:t>
            </a:r>
            <a:br/>
            <a:r>
              <a:t>routes user to right visual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11880" cy="3383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  <a:latin typeface="Segoe UI"/>
              </a:defRPr>
            </a:pPr>
            <a:r>
              <a:t>ID: genbi-exec-dashboard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Audience: Senior leadership, regional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Total Revenue KPI: SUM(fact_sales.line_total)</a:t>
            </a:r>
            <a:br/>
            <a:r>
              <a:t>Total Orders KPI: COUNT(DISTINCT transaction_id)</a:t>
            </a:r>
            <a:br/>
            <a:r>
              <a:t>Gross Profit KPI: SUM(gross_profit)</a:t>
            </a:r>
            <a:br/>
            <a:r>
              <a:t>Revenue by Region bar chart (HK Island/Kowloon/NT)</a:t>
            </a:r>
            <a:br/>
            <a:r>
              <a:t>Monthly Revenue Trend line chart (Jan-Dec 2023)</a:t>
            </a:r>
            <a:br/>
            <a:r>
              <a:t>Orders by Store Type pie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611880" cy="3383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Segoe UI"/>
              </a:defRPr>
            </a:pPr>
            <a:r>
              <a:t>Sales &amp; Menu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45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  <a:latin typeface="Segoe UI"/>
              </a:defRPr>
            </a:pPr>
            <a:r>
              <a:t>ID: genbi-sales-dashboard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Audience: Menu planners,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Revenue by Category bar chart (8 categories)</a:t>
            </a:r>
            <a:br/>
            <a:r>
              <a:t>Top Menu Items by Revenue bar chart</a:t>
            </a:r>
            <a:br/>
            <a:r>
              <a:t>Revenue by Channel pie chart (5 channels)</a:t>
            </a:r>
            <a:br/>
            <a:r>
              <a:t>Revenue by Payment Method pie chart (7 types)</a:t>
            </a:r>
            <a:br/>
            <a:r>
              <a:t>Sales by Hour of Day line chart (daily curve)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611880" cy="3383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25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Segoe UI"/>
              </a:defRPr>
            </a:pPr>
            <a:r>
              <a:t>Customer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  <a:latin typeface="Segoe UI"/>
              </a:defRPr>
            </a:pPr>
            <a:r>
              <a:t>ID: genbi-cust-dashboard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74519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Audience: CX team, store managers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488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Avg Customer Rating KPI (1-5 scale)</a:t>
            </a:r>
            <a:br/>
            <a:r>
              <a:t>Avg Rating by Region bar chart</a:t>
            </a:r>
            <a:br/>
            <a:r>
              <a:t>Sentiment by Quarter stacked bar</a:t>
            </a:r>
            <a:br/>
            <a:r>
              <a:t>  (positive / neutral / negative)</a:t>
            </a:r>
            <a:br/>
            <a:r>
              <a:t>Would Recommend pie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Recommendation Guide (embedded in system prompt)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Total revenue, overall perf.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2303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521208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Menu items, best 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303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Sales &amp;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21208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Channels (kiosk, delivery)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2303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Sales &amp;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0644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824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Labor costs, staffing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824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80644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824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Customer ratings, CSAT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24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Customer Intelligence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5806440"/>
            <a:ext cx="3611880" cy="5029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58247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EBITDA, net profit, P&amp;L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824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Financial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KB Document: 06_pipeline_lineage.md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What the LLM learns: complete source-to-dashboard trace for every table — how raw numbers 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8686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01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Contributes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Data Lineage — end-to-end</a:t>
            </a:r>
            <a:br/>
            <a:r>
              <a:t>pipeline trace in every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Example: fact_sales — How "Total Orders" Goes from Register to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45920"/>
            <a:ext cx="2148840" cy="4572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Source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48840"/>
            <a:ext cx="2148840" cy="365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POS Terminals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Raw transaction data</a:t>
            </a:r>
            <a:br/>
            <a:r>
              <a:t>generated at point of sale.</a:t>
            </a:r>
            <a:br/>
            <a:r>
              <a:t>One record per transaction +</a:t>
            </a:r>
            <a:br/>
            <a:r>
              <a:t>one record per line item.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645920"/>
            <a:ext cx="21488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S3 Raw Landing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148840"/>
            <a:ext cx="2148840" cy="365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s3://.../pos/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603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pos_transactions_YYYY_MM.csv</a:t>
            </a:r>
            <a:br/>
            <a:r>
              <a:t>  (transaction_id, store_id,</a:t>
            </a:r>
            <a:br/>
            <a:r>
              <a:t>   order_date, channel_id)</a:t>
            </a:r>
            <a:br/>
            <a:br/>
            <a:r>
              <a:t>pos_line_items_YYYY_MM.csv</a:t>
            </a:r>
            <a:br/>
            <a:r>
              <a:t>  (transaction_id, item_id,</a:t>
            </a:r>
            <a:br/>
            <a:r>
              <a:t>   quantity, unit_price, line_total)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645920"/>
            <a:ext cx="2148840" cy="45720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Glue ETL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148840"/>
            <a:ext cx="2148840" cy="365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3BB"/>
                </a:solidFill>
                <a:latin typeface="Segoe UI"/>
              </a:defRPr>
            </a:pPr>
            <a:r>
              <a:t>load_fact_sales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603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JOIN txns + items</a:t>
            </a:r>
            <a:br/>
            <a:r>
              <a:t>  ON transaction_id (INNER)</a:t>
            </a:r>
            <a:br/>
            <a:br/>
            <a:r>
              <a:t>Transforms:</a:t>
            </a:r>
            <a:br/>
            <a:r>
              <a:t>  date_key = FORMAT(order_date)</a:t>
            </a:r>
            <a:br/>
            <a:r>
              <a:t>  discount = COALESCE(0.0)</a:t>
            </a:r>
            <a:br/>
            <a:r>
              <a:t>  gross_profit = line_total</a:t>
            </a:r>
            <a:br/>
            <a:r>
              <a:t>    - discount - cogs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214884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Redshift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148840"/>
            <a:ext cx="2148840" cy="365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E44AD"/>
                </a:solidFill>
                <a:latin typeface="Segoe UI"/>
              </a:defRPr>
            </a:pPr>
            <a:r>
              <a:t>genbi_mart.fact_sales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5603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17.5M rows loaded</a:t>
            </a:r>
            <a:br/>
            <a:r>
              <a:t>Grain: one row per line item</a:t>
            </a:r>
            <a:br/>
            <a:r>
              <a:t>per transaction</a:t>
            </a:r>
            <a:br/>
            <a:br/>
            <a:r>
              <a:t>Stored as: sale_key (PK),</a:t>
            </a:r>
            <a:br/>
            <a:r>
              <a:t>transaction_id, date_key,</a:t>
            </a:r>
            <a:br/>
            <a:r>
              <a:t>store_id, item_id,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645920"/>
            <a:ext cx="214884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148840"/>
            <a:ext cx="2148840" cy="36576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900"/>
                </a:solidFill>
                <a:latin typeface="Segoe UI"/>
              </a:defRPr>
            </a:pPr>
            <a:r>
              <a:t>Aggregation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5603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COUNT(DISTINCT</a:t>
            </a:r>
            <a:br/>
            <a:r>
              <a:t>  transaction_id)</a:t>
            </a:r>
            <a:br/>
            <a:br/>
            <a:r>
              <a:t>Converts line-item grain</a:t>
            </a:r>
            <a:br/>
            <a:r>
              <a:t>to unique order count.</a:t>
            </a:r>
            <a:br/>
            <a:br/>
            <a:r>
              <a:t>17.5M line items →</a:t>
            </a:r>
            <a:br/>
            <a:r>
              <a:t>7.5M distinct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Example: dim_menu_item — How Food Cost % Is Calculated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Source: s3://.../reference/menu_items/ + reference/categories/</a:t>
            </a:r>
            <a:br/>
            <a:r>
              <a:t>  → menu_items.csv has: item_id, item_name, category_id, unit_price, cogs</a:t>
            </a:r>
            <a:br/>
            <a:r>
              <a:t>  → categories.csv has: category_id, category_name</a:t>
            </a:r>
            <a:br/>
            <a:br/>
            <a:r>
              <a:t>Glue ETL (load_dim_menu_item): JOIN menu_items + categories ON category_id</a:t>
            </a:r>
            <a:br/>
            <a:r>
              <a:t>  → Calculate: food_cost_pct = cogs / unit_price x 100</a:t>
            </a:r>
            <a:br/>
            <a:r>
              <a:t>  → Example: Big Mac: cogs = HK$12, price = HK$42 → food_cost_pct = 28.6%</a:t>
            </a:r>
            <a:br/>
            <a:br/>
            <a:r>
              <a:t>Target Redshift: genbi_mart.dim_menu_item (30 rows) → Used by QuickSight "Sales &amp; Menu" dashboard for profitability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RAG Retrieval Mechanics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1148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11880" cy="54864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3BB"/>
                </a:solidFill>
                <a:latin typeface="Segoe UI"/>
              </a:defRPr>
            </a:pPr>
            <a:r>
              <a:t>Step 1</a:t>
            </a:r>
            <a:br/>
            <a:r>
              <a:t>Vector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User question → vector embedding →</a:t>
            </a:r>
            <a:br/>
            <a:r>
              <a:t>compared against pre-indexed KB chunks</a:t>
            </a:r>
            <a:br/>
            <a:r>
              <a:t>in Amazon OpenSearch Serverless.</a:t>
            </a:r>
            <a:br/>
            <a:br/>
            <a:r>
              <a:t>Top-5 most relevant chunks retrieved.</a:t>
            </a:r>
            <a:br/>
            <a:br/>
            <a:r>
              <a:t>Example: "total orders" retrieves:</a:t>
            </a:r>
            <a:br/>
            <a:r>
              <a:t>  • fact_sales schema (join rules)</a:t>
            </a:r>
            <a:br/>
            <a:r>
              <a:t>  • COUNT(DISTINCT transaction_id) pattern</a:t>
            </a:r>
            <a:br/>
            <a:r>
              <a:t>  • POS pipeline 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611880" cy="41148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118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Segoe UI"/>
              </a:defRPr>
            </a:pPr>
            <a:r>
              <a:t>Step 2</a:t>
            </a:r>
            <a:br/>
            <a:r>
              <a:t>Prompt 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Retrieved KB chunks injected into</a:t>
            </a:r>
            <a:br/>
            <a:r>
              <a:t>LLM prompt alongside:</a:t>
            </a:r>
            <a:br/>
            <a:br/>
            <a:r>
              <a:t>  • User's natural language question</a:t>
            </a:r>
            <a:br/>
            <a:r>
              <a:t>  • System instructions (SQL rules,</a:t>
            </a:r>
            <a:br/>
            <a:r>
              <a:t>    JOIN key rules, lineage format)</a:t>
            </a:r>
            <a:br/>
            <a:r>
              <a:t>  • Topic guardrails</a:t>
            </a:r>
            <a:br/>
            <a:br/>
            <a:r>
              <a:t>Gives LLM precise, verified context</a:t>
            </a:r>
            <a:br/>
            <a:r>
              <a:t>instead of general training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611880" cy="41148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61188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Segoe UI"/>
              </a:defRPr>
            </a:pPr>
            <a:r>
              <a:t>Step 3</a:t>
            </a:r>
            <a:br/>
            <a:r>
              <a:t>Structured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LLM generates JSON response with</a:t>
            </a:r>
            <a:br/>
            <a:r>
              <a:t>5 fields, each from different KB docs:</a:t>
            </a:r>
            <a:br/>
            <a:br/>
            <a:r>
              <a:t>  • SQL query  ← schema + sql_examples</a:t>
            </a:r>
            <a:br/>
            <a:r>
              <a:t>  • Explanation ← business_glossary</a:t>
            </a:r>
            <a:br/>
            <a:r>
              <a:t>  • Dashboard  ← dashboard_catalog</a:t>
            </a:r>
            <a:br/>
            <a:r>
              <a:t>  • Lineage    ← pipeline_lineage</a:t>
            </a:r>
            <a:br/>
            <a:r>
              <a:t>  • Assumptions ← business_glossary</a:t>
            </a:r>
            <a:br/>
            <a:br/>
            <a:r>
              <a:t>SQL post-processed by fix_generated_sql()</a:t>
            </a:r>
            <a:br/>
            <a:r>
              <a:t>to correct common LLM mistakes.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Response Field → KB Document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15000"/>
            <a:ext cx="21945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SQL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Segoe UI"/>
              </a:defRPr>
            </a:pPr>
            <a:r>
              <a:t>01_schema_overview + 03_sql_examples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715000"/>
            <a:ext cx="21945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Segoe UI"/>
              </a:defRPr>
            </a:pPr>
            <a:r>
              <a:t>04_business_glossary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5715000"/>
            <a:ext cx="21945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Segoe UI"/>
              </a:defRPr>
            </a:pPr>
            <a:r>
              <a:t>05_dashboard_catalog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715000"/>
            <a:ext cx="21945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Data 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Segoe UI"/>
              </a:defRPr>
            </a:pPr>
            <a:r>
              <a:t>06_pipeline_lineage + 02_data_lineage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5715000"/>
            <a:ext cx="2194560" cy="4114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Segoe UI"/>
              </a:defRPr>
            </a:pPr>
            <a:r>
              <a:t>04_business_glossary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End-to-End Data Lineage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For every chatbot answer, the full pipeline is traced — from source system to the final aggregated metric.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148840" cy="5029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Source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48840"/>
            <a:ext cx="2148840" cy="1097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POS terminals</a:t>
            </a:r>
            <a:br/>
            <a:r>
              <a:t>(store registers)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918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Raw transaction</a:t>
            </a:r>
            <a:br/>
            <a:r>
              <a:t>data generated</a:t>
            </a:r>
            <a:br/>
            <a:r>
              <a:t>at point of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214884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S3 Raw Landing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48840"/>
            <a:ext cx="2148840" cy="1097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s3://.../pos/</a:t>
            </a:r>
            <a:br/>
            <a:r>
              <a:t>transactions/</a:t>
            </a:r>
            <a:br/>
            <a:r>
              <a:t>+ line_items/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918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Monthly CSV</a:t>
            </a:r>
            <a:br/>
            <a:r>
              <a:t>partitions</a:t>
            </a:r>
            <a:br/>
            <a:r>
              <a:t>YYYY_MM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2148840" cy="50292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Glue ETL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48840"/>
            <a:ext cx="2148840" cy="1097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load_fact_sales</a:t>
            </a:r>
            <a:br/>
            <a:r>
              <a:t>JOIN txns + items</a:t>
            </a:r>
            <a:br/>
            <a:r>
              <a:t>ON transaction_id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Calculate:</a:t>
            </a:r>
            <a:br/>
            <a:r>
              <a:t>gross_profit =</a:t>
            </a:r>
            <a:br/>
            <a:r>
              <a:t>line_total - cogs</a:t>
            </a:r>
            <a:br/>
            <a:r>
              <a:t>-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554480"/>
            <a:ext cx="214884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Redshift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48840"/>
            <a:ext cx="2148840" cy="1097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genbi_mart.</a:t>
            </a:r>
            <a:br/>
            <a:r>
              <a:t>fact_sales</a:t>
            </a:r>
            <a:br/>
            <a:r>
              <a:t>17.5M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918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Grain: one row</a:t>
            </a:r>
            <a:br/>
            <a:r>
              <a:t>per line item</a:t>
            </a:r>
            <a:br/>
            <a:r>
              <a:t>per 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554480"/>
            <a:ext cx="214884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  <a:br/>
            <a:r>
              <a:t>Aggregation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148840"/>
            <a:ext cx="2148840" cy="10972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COUNT(DISTINCT</a:t>
            </a:r>
            <a:br/>
            <a:r>
              <a:t>transaction_id)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918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Converts line-item</a:t>
            </a:r>
            <a:br/>
            <a:r>
              <a:t>grain to unique</a:t>
            </a:r>
            <a:br/>
            <a:r>
              <a:t>order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More Lineage Examples (from 06_pipeline_lineage.md):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1247120" cy="54864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445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Total Revenue by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445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POS terminals → s3://.../pos/transactions/ + line_items/ →</a:t>
            </a:r>
            <a:br/>
            <a:r>
              <a:t>Glue (load_fact_sales): JOIN + calculate line_total →</a:t>
            </a:r>
            <a:br/>
            <a:r>
              <a:t>Redshift fact_sales JOIN dim_store → SUM(line_total) GROUP BY region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11247120" cy="54864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38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Average CSAT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13892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Survey platform → s3://.../customer/customer_feedback.csv →</a:t>
            </a:r>
            <a:br/>
            <a:r>
              <a:t>Glue (load_facts): type cast ratings to DECIMAL →</a:t>
            </a:r>
            <a:br/>
            <a:r>
              <a:t>Redshift fact_customer_feedback → AVG(overall_rating)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15000"/>
            <a:ext cx="11247120" cy="54864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332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Monthly EBITDA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7332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Finance/ERP → s3://.../financial/store_pl_monthly.csv →</a:t>
            </a:r>
            <a:br/>
            <a:r>
              <a:t>Glue (load_facts): direct load, month_key derivation →</a:t>
            </a:r>
            <a:br/>
            <a:r>
              <a:t>Redshift fact_financial → SUM(ebitda) GROUP BY month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309360"/>
            <a:ext cx="11247120" cy="548640"/>
          </a:xfrm>
          <a:prstGeom prst="roundRect">
            <a:avLst/>
          </a:prstGeom>
          <a:solidFill>
            <a:srgbClr val="1E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3276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Labor Cost per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632764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Segoe UI"/>
              </a:defRPr>
            </a:pPr>
            <a:r>
              <a:t>HR system → s3://.../operations/labor_shifts.csv + POS →</a:t>
            </a:r>
            <a:br/>
            <a:r>
              <a:t>Glue: JOIN labor to sales on store_id + date_key →</a:t>
            </a:r>
            <a:br/>
            <a:r>
              <a:t>Redshift fact_labor + fact_sales → labor_cost / COUNT(DISTINCT txn_id)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Deep Dive — SQL Generation &amp;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SQL Generation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4688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246888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  <a:latin typeface="Segoe UI"/>
              </a:defRPr>
            </a:pPr>
            <a: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Injected into every LLM call:</a:t>
            </a:r>
            <a:br/>
            <a:r>
              <a:t>• SQL rules (fully qualified table names)</a:t>
            </a:r>
            <a:br/>
            <a:r>
              <a:t>• JOIN key rules (natural vs surrogate)</a:t>
            </a:r>
            <a:br/>
            <a:r>
              <a:t>• Date filtering rules (dim_date.full_date)</a:t>
            </a:r>
            <a:br/>
            <a:r>
              <a:t>• COUNT(DISTINCT transaction_id) for orders</a:t>
            </a:r>
            <a:br/>
            <a:r>
              <a:t>• HKD currency, no sales tax</a:t>
            </a:r>
            <a:br/>
            <a:r>
              <a:t>• Lineage format template</a:t>
            </a:r>
            <a:br/>
            <a:r>
              <a:t>• Dashboard recommendation guide</a:t>
            </a:r>
            <a:br/>
            <a:r>
              <a:t>• Topic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5303520" cy="246888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54864" cy="2468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97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Post-Processing</a:t>
            </a:r>
            <a:br/>
            <a:r>
              <a:t>(fix_generated_sql)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59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Automatic corrections before execution:</a:t>
            </a:r>
            <a:br/>
            <a:r>
              <a:t>• Fix surrogate keys on fact tables:</a:t>
            </a:r>
            <a:br/>
            <a:r>
              <a:t>  store_key → store_id</a:t>
            </a:r>
            <a:br/>
            <a:r>
              <a:t>  item_key → item_id</a:t>
            </a:r>
            <a:br/>
            <a:r>
              <a:t>  channel_key → channel_id</a:t>
            </a:r>
            <a:br/>
            <a:r>
              <a:t>• Fix fact_financial date key:</a:t>
            </a:r>
            <a:br/>
            <a:r>
              <a:t>  date_key → month_key</a:t>
            </a:r>
            <a:br/>
            <a:r>
              <a:t>• Regex-based, alias-aware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Guardrails &amp; Response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486400" cy="210312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4864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Topic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Allowed topics:</a:t>
            </a:r>
            <a:br/>
            <a:r>
              <a:t>  Sales, revenue, orders, menu items, inventory,</a:t>
            </a:r>
            <a:br/>
            <a:r>
              <a:t>  labor/staffing, service performance, customer</a:t>
            </a:r>
            <a:br/>
            <a:r>
              <a:t>  feedback, loyalty, equipment, financial P&amp;L</a:t>
            </a:r>
            <a:br/>
            <a:br/>
            <a:r>
              <a:t>Off-topic → returns explanation with no SQL</a:t>
            </a:r>
            <a:br/>
            <a:r>
              <a:t>(politics, weather, coding, general knowledge)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486400" cy="2743200"/>
          </a:xfrm>
          <a:prstGeom prst="round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4864" cy="27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Structured JSON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{</a:t>
            </a:r>
            <a:br/>
            <a:r>
              <a:t>  "sql": "SELECT ... FROM genbi_mart...",</a:t>
            </a:r>
            <a:br/>
            <a:r>
              <a:t>  "explanation": "This query calculates...",</a:t>
            </a:r>
            <a:br/>
            <a:r>
              <a:t>  "lineage": "Source System: POS → S3 → ...",</a:t>
            </a:r>
            <a:br/>
            <a:r>
              <a:t>  "assumptions": "Revenue = line_total...",</a:t>
            </a:r>
            <a:br/>
            <a:r>
              <a:t>  "recommended_dashboard": "genbi-exec-dashboard"</a:t>
            </a:r>
            <a:br/>
            <a:r>
              <a:t>}</a:t>
            </a:r>
            <a:br/>
            <a:br/>
            <a:r>
              <a:t>Parsed with json.JSONDecoder.raw_decode()</a:t>
            </a:r>
            <a:br/>
            <a:r>
              <a:t>for robust extraction from LLM output.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Enterprise Architecture — Dual-Path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EXTERNAL ACCESS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560320" cy="54864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External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57400"/>
            <a:ext cx="25603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AWS WAF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43200"/>
            <a:ext cx="2560320" cy="54864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CloudFront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429000"/>
            <a:ext cx="256032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Cognito</a:t>
            </a:r>
            <a:br/>
            <a:r>
              <a:t>(SAML / OIDC)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2560320" cy="54864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Public ALB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Segoe UI"/>
              </a:defRPr>
            </a:pPr>
            <a:r>
              <a:t>INTERNAL ACCESS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560320" cy="54864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Internal User</a:t>
            </a:r>
            <a:br/>
            <a:r>
              <a:t>(Staff / Analysts)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7451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057400"/>
            <a:ext cx="2560320" cy="54864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Corporate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74320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AWS Direct Connect</a:t>
            </a:r>
            <a:br/>
            <a:r>
              <a:t>/ Site-to-Site VPN</a:t>
            </a:r>
            <a:br/>
            <a:r>
              <a:t>/ Client VPN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42900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AWS Transit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900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11480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Private ALB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CUSTOMER VPC (PRIVATE SUBNETS)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371600"/>
            <a:ext cx="5029200" cy="731520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EC2 / AWS Fargate</a:t>
            </a:r>
            <a:br/>
            <a:r>
              <a:t>(GenBI API — Multi-AZ)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286000"/>
            <a:ext cx="2377440" cy="59436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VPC Endpoint</a:t>
            </a:r>
            <a:br/>
            <a:r>
              <a:t>(Bedrock)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286000"/>
            <a:ext cx="2377440" cy="59436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VPC Endpoint</a:t>
            </a:r>
            <a:br/>
            <a:r>
              <a:t>(Redshift)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08960"/>
            <a:ext cx="2377440" cy="5943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Bedrock</a:t>
            </a:r>
            <a:br/>
            <a:r>
              <a:t>Knowledge Bases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108960"/>
            <a:ext cx="2377440" cy="5943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Bedrock</a:t>
            </a:r>
            <a:br/>
            <a:r>
              <a:t>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931920"/>
            <a:ext cx="237744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Redshift</a:t>
            </a:r>
            <a:br/>
            <a:r>
              <a:t>Serverless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931920"/>
            <a:ext cx="2377440" cy="5943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Amazon QuickSight</a:t>
            </a:r>
            <a:br/>
            <a:r>
              <a:t>(Row-Level Security)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88"/>
                </a:solidFill>
                <a:latin typeface="Segoe UI"/>
              </a:defRPr>
            </a:pPr>
            <a:r>
              <a:t>OPERATIONAL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5029200"/>
            <a:ext cx="1554480" cy="54864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Amazon</a:t>
            </a:r>
            <a:br/>
            <a:r>
              <a:t>CloudWatch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5029200"/>
            <a:ext cx="1554480" cy="54864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AWS</a:t>
            </a:r>
            <a:br/>
            <a:r>
              <a:t>X-Ray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5029200"/>
            <a:ext cx="1554480" cy="54864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88888"/>
                </a:solidFill>
                <a:latin typeface="Segoe UI"/>
              </a:defRPr>
            </a:pPr>
            <a:r>
              <a:t>AWS</a:t>
            </a:r>
            <a:br/>
            <a:r>
              <a:t>CloudTrail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Security: VPC Endpoints (no internet)  |  AWS KMS encryption at rest  |  TLS in transit  |  QuickSight RLS  |  AWS WAF (OWASP rules)  |  CloudTrail audit logs  |  X-Ray tracing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Try It Yourself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91440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https://d1k3nghlesd8gk.cloudfront.net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91440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Segoe UI"/>
              </a:defRPr>
            </a:pPr>
            <a:r>
              <a:t>Source Code &amp;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https://github.com/danielpeggy/bi-report-chatbot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Sample Questions to Try: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"What is the total revenue by region?"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"Which menu items have the highest profit margin?"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"Show me monthly order trends for 2023"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"What is the average CSAT rating by store?"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"What are the labor costs per order by region?"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Recommended Next Steps: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566160" cy="10972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1. Live Demo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30-minute session to explore dashboards and chatbot capabilities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029200"/>
            <a:ext cx="3566160" cy="10972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2. Architecture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Map your current data pipeline to the GenBI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5029200"/>
            <a:ext cx="3566160" cy="1097280"/>
          </a:xfrm>
          <a:prstGeom prst="round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3. PoC Scoping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Identify 2-3 dashboards and a target dataset for proof-of-concept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